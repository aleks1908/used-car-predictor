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TC Avant Garde Gothic" panose="020B0502020202020204" pitchFamily="34" charset="77"/>
      <p:regular r:id=""/>
    </p:embeddedFont>
    <p:embeddedFont>
      <p:font typeface="TT Fors" panose="020B0003030001020000" pitchFamily="34" charset="0"/>
      <p:regular r:id="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585" autoAdjust="0"/>
  </p:normalViewPr>
  <p:slideViewPr>
    <p:cSldViewPr>
      <p:cViewPr varScale="1">
        <p:scale>
          <a:sx n="100" d="100"/>
          <a:sy n="100" d="100"/>
        </p:scale>
        <p:origin x="216" y="3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9BC616-36B2-B541-A223-409310A8C91B}" type="datetimeFigureOut">
              <a:rPr lang="en-BG" smtClean="0"/>
              <a:t>29.11.25</a:t>
            </a:fld>
            <a:endParaRPr lang="en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EF94C7-AC47-9040-9BFA-4275F4F892B9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600740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F94C7-AC47-9040-9BFA-4275F4F892B9}" type="slidenum">
              <a:rPr lang="en-BG" smtClean="0"/>
              <a:t>9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925584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68150" y="0"/>
            <a:ext cx="6419850" cy="10287000"/>
            <a:chOff x="0" y="0"/>
            <a:chExt cx="994603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/>
              <a:stretch>
                <a:fillRect t="-126" b="-12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666750" y="666750"/>
            <a:ext cx="9763125" cy="4949824"/>
            <a:chOff x="0" y="0"/>
            <a:chExt cx="13017500" cy="6599766"/>
          </a:xfrm>
        </p:grpSpPr>
        <p:sp>
          <p:nvSpPr>
            <p:cNvPr id="5" name="TextBox 5"/>
            <p:cNvSpPr txBox="1"/>
            <p:nvPr/>
          </p:nvSpPr>
          <p:spPr>
            <a:xfrm>
              <a:off x="0" y="1184275"/>
              <a:ext cx="13017500" cy="54154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99"/>
                </a:lnSpc>
              </a:pPr>
              <a:r>
                <a:rPr lang="en-US" sz="9999" spc="-299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Used Car Price Prediction System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04775"/>
              <a:ext cx="13017500" cy="626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4A4A4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AUBG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63474" y="9181465"/>
            <a:ext cx="7194651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rPr>
              <a:t>Aleksandar Ivaylov Ivanov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444829" y="7829550"/>
            <a:ext cx="4846643" cy="1791955"/>
            <a:chOff x="0" y="0"/>
            <a:chExt cx="6462190" cy="23892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8225040"/>
            <a:chOff x="0" y="0"/>
            <a:chExt cx="14935200" cy="1096672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The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35200"/>
              <a:ext cx="13498957" cy="8731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The used-car market is unpredictable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Prices depend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 many factors (mileage, age, fuel type, market trends)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Buyers cannot estimate depreciation accurately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Sellers have difficulty pricing fairly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No widely accessible interactive tool exists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666750" y="666750"/>
            <a:ext cx="11201400" cy="10119750"/>
            <a:chOff x="0" y="0"/>
            <a:chExt cx="14935200" cy="134930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4935200" cy="2972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How does the project solve the problem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746513"/>
              <a:ext cx="13498957" cy="10746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 dirty="0"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Uses real historical data to learn pricing patterns</a:t>
              </a:r>
            </a:p>
            <a:p>
              <a:pPr algn="l">
                <a:lnSpc>
                  <a:spcPts val="3982"/>
                </a:lnSpc>
              </a:pPr>
              <a:endParaRPr lang="en-US" sz="3318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Predicts fair market prices fo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any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car con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igur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ov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m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ult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i-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ar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dep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cia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Allows sid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-by-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ide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c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omp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riso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 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wo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car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Us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ensemb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ML model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for 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h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igh pr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edict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ive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p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forma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ce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Offers a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fa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st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 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y-to-u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se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web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inter</a:t>
              </a:r>
              <a:r>
                <a:rPr lang="en-US" sz="3318" u="none" strike="noStrike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</a:t>
              </a:r>
              <a:r>
                <a:rPr lang="en-US" sz="3318" spc="-99" dirty="0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ace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 dirty="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9232523"/>
            <a:chOff x="0" y="0"/>
            <a:chExt cx="14935200" cy="12310031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Project overview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35200"/>
              <a:ext cx="13498957" cy="10074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backend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+ TypeScript frontend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CLI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for m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odel bu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il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Custom ML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orithms 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m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bun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JSON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4 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ty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es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 pr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ic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,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mpar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on, range(single, comparison))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10461053" y="849849"/>
            <a:ext cx="7309940" cy="8587302"/>
          </a:xfrm>
          <a:custGeom>
            <a:avLst/>
            <a:gdLst/>
            <a:ahLst/>
            <a:cxnLst/>
            <a:rect l="l" t="t" r="r" b="b"/>
            <a:pathLst>
              <a:path w="7309940" h="8587302">
                <a:moveTo>
                  <a:pt x="0" y="0"/>
                </a:moveTo>
                <a:lnTo>
                  <a:pt x="7309940" y="0"/>
                </a:lnTo>
                <a:lnTo>
                  <a:pt x="7309940" y="8587302"/>
                </a:lnTo>
                <a:lnTo>
                  <a:pt x="0" y="8587302"/>
                </a:lnTo>
                <a:lnTo>
                  <a:pt x="0" y="0"/>
                </a:lnTo>
                <a:close/>
              </a:path>
            </a:pathLst>
          </a:custGeom>
          <a:blipFill>
            <a:blip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8014956"/>
            <a:chOff x="0" y="0"/>
            <a:chExt cx="14935200" cy="10686608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Architecture Diagram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970054"/>
              <a:ext cx="13498957" cy="67165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CSV Dataset → CLI Trainer → Model Bundles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API (PredictionCon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roller, ModelHotLoader, Acti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v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eModel)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SPA U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(Si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 prediction,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dict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ion, Compare)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 flipV="1">
            <a:off x="12829128" y="5180621"/>
            <a:ext cx="2058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4868578" y="3348816"/>
            <a:ext cx="0" cy="1831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14874532" y="3366912"/>
            <a:ext cx="167863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5080484" y="3460510"/>
            <a:ext cx="3123182" cy="6356958"/>
          </a:xfrm>
          <a:custGeom>
            <a:avLst/>
            <a:gdLst/>
            <a:ahLst/>
            <a:cxnLst/>
            <a:rect l="l" t="t" r="r" b="b"/>
            <a:pathLst>
              <a:path w="3123182" h="6356958">
                <a:moveTo>
                  <a:pt x="0" y="0"/>
                </a:moveTo>
                <a:lnTo>
                  <a:pt x="3123182" y="0"/>
                </a:lnTo>
                <a:lnTo>
                  <a:pt x="3123182" y="6356959"/>
                </a:lnTo>
                <a:lnTo>
                  <a:pt x="0" y="6356959"/>
                </a:lnTo>
                <a:lnTo>
                  <a:pt x="0" y="0"/>
                </a:lnTo>
                <a:close/>
              </a:path>
            </a:pathLst>
          </a:custGeom>
          <a:blipFill>
            <a:blip/>
            <a:stretch>
              <a:fillRect l="-660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111825" y="183778"/>
            <a:ext cx="3434608" cy="4959722"/>
          </a:xfrm>
          <a:custGeom>
            <a:avLst/>
            <a:gdLst/>
            <a:ahLst/>
            <a:cxnLst/>
            <a:rect l="l" t="t" r="r" b="b"/>
            <a:pathLst>
              <a:path w="3434608" h="4959722">
                <a:moveTo>
                  <a:pt x="0" y="0"/>
                </a:moveTo>
                <a:lnTo>
                  <a:pt x="3434607" y="0"/>
                </a:lnTo>
                <a:lnTo>
                  <a:pt x="3434607" y="4959722"/>
                </a:lnTo>
                <a:lnTo>
                  <a:pt x="0" y="4959722"/>
                </a:lnTo>
                <a:lnTo>
                  <a:pt x="0" y="0"/>
                </a:lnTo>
                <a:close/>
              </a:path>
            </a:pathLst>
          </a:custGeom>
          <a:blipFill>
            <a:blip/>
            <a:stretch>
              <a:fillRect/>
            </a:stretch>
          </a:blipFill>
        </p:spPr>
      </p:sp>
      <p:sp>
        <p:nvSpPr>
          <p:cNvPr id="10" name="AutoShape 10"/>
          <p:cNvSpPr/>
          <p:nvPr/>
        </p:nvSpPr>
        <p:spPr>
          <a:xfrm flipV="1">
            <a:off x="16534457" y="3366912"/>
            <a:ext cx="0" cy="1690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2829128" y="5143500"/>
            <a:ext cx="0" cy="561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666750" y="666750"/>
            <a:ext cx="9844955" cy="8014956"/>
            <a:chOff x="0" y="0"/>
            <a:chExt cx="13126607" cy="10686608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13126607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Class Hierarchy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3970054"/>
              <a:ext cx="11864287" cy="67165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CSV Dataset → CLI Trainer → Model Bundles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API (PredictionCon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roller, ModelHotLoader, Acti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v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eModel)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SPA U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(Si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 prediction,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dict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ion, Compare)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B2F8463-CE4E-FBCD-D512-08D37AF03497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134600" y="710406"/>
            <a:ext cx="7772400" cy="88793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2720587" cy="8055908"/>
            <a:chOff x="0" y="0"/>
            <a:chExt cx="16960783" cy="1074121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Algorithms used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681345"/>
              <a:ext cx="16960783" cy="80598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Linear Regression - simple baseline for quick comparison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Ridge Regression - stable trend model for depreciation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Random Forest - captures complex, nonlinear effe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Gradient Boosting - improves accuracy through sequential learning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2006278" cy="10065089"/>
            <a:chOff x="0" y="0"/>
            <a:chExt cx="16008371" cy="13420119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3126607" cy="2972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Training Pipeline &amp; Quality Gates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345288"/>
              <a:ext cx="16008371" cy="10074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Processes raw vehicle data (cleaning, encoding, feature scaling)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Trains four algorithms on each (make, model) pair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Tunes hyperparameters using cross-validation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Applies strict quality gates (R², MAE, RMSE thresholds)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Skips models with insufficient data or missing categories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Saves only high-qualit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 m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odels as bundles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12673028" y="341938"/>
            <a:ext cx="3997300" cy="9603123"/>
          </a:xfrm>
          <a:custGeom>
            <a:avLst/>
            <a:gdLst/>
            <a:ahLst/>
            <a:cxnLst/>
            <a:rect l="l" t="t" r="r" b="b"/>
            <a:pathLst>
              <a:path w="3997300" h="9603123">
                <a:moveTo>
                  <a:pt x="0" y="0"/>
                </a:moveTo>
                <a:lnTo>
                  <a:pt x="3997300" y="0"/>
                </a:lnTo>
                <a:lnTo>
                  <a:pt x="3997300" y="9603124"/>
                </a:lnTo>
                <a:lnTo>
                  <a:pt x="0" y="9603124"/>
                </a:lnTo>
                <a:lnTo>
                  <a:pt x="0" y="0"/>
                </a:lnTo>
                <a:close/>
              </a:path>
            </a:pathLst>
          </a:custGeom>
          <a:blipFill>
            <a:blip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7950150"/>
            <a:chOff x="0" y="0"/>
            <a:chExt cx="14935200" cy="106002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Challenges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11990"/>
              <a:ext cx="13498957" cy="7388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RF/GB models were unstable for long-term forecasts → required using Ridge for range predictions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Raw data had inconsistent model names → needed a custom canonical 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system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Ensuring safe model hot-loading 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pic>
        <p:nvPicPr>
          <p:cNvPr id="5" name="Picture 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372600" y="1036475"/>
            <a:ext cx="8643378" cy="82140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095761" cy="9767648"/>
            <a:chOff x="0" y="0"/>
            <a:chExt cx="14794348" cy="13023531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794348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Results &amp; Findings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77044"/>
              <a:ext cx="9137674" cy="10746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High model accuracy across most car models (strong MAE/RMSE and R² scores)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RF/GB + Ridge Regression models performed best overall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Strict quality gates prevented weak models from being saved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Backend test coverage: 84%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end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tes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c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overage: 98%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7464322" y="2524286"/>
            <a:ext cx="10823678" cy="6734014"/>
          </a:xfrm>
          <a:custGeom>
            <a:avLst/>
            <a:gdLst/>
            <a:ahLst/>
            <a:cxnLst/>
            <a:rect l="l" t="t" r="r" b="b"/>
            <a:pathLst>
              <a:path w="10823678" h="6734014">
                <a:moveTo>
                  <a:pt x="0" y="0"/>
                </a:moveTo>
                <a:lnTo>
                  <a:pt x="10823678" y="0"/>
                </a:lnTo>
                <a:lnTo>
                  <a:pt x="10823678" y="6734014"/>
                </a:lnTo>
                <a:lnTo>
                  <a:pt x="0" y="6734014"/>
                </a:lnTo>
                <a:lnTo>
                  <a:pt x="0" y="0"/>
                </a:lnTo>
                <a:close/>
              </a:path>
            </a:pathLst>
          </a:custGeom>
          <a:blipFill>
            <a:blip/>
            <a:stretch>
              <a:fillRect l="-3501" t="-10412" r="-3501" b="-6754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381</Words>
  <Application>Microsoft Macintosh PowerPoint</Application>
  <PresentationFormat>Custom</PresentationFormat>
  <Paragraphs>96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Aptos</vt:lpstr>
      <vt:lpstr>Arial</vt:lpstr>
      <vt:lpstr>ITC Avant Garde Gothic</vt:lpstr>
      <vt:lpstr>TT Fors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Final Project Presentation</dc:title>
  <dc:description>Presentation - Final Project Presentation</dc:description>
  <cp:lastModifiedBy>Aleks4o</cp:lastModifiedBy>
  <cp:revision>3</cp:revision>
  <dcterms:created xsi:type="dcterms:W3CDTF">2006-08-16T00:00:00Z</dcterms:created>
  <dcterms:modified xsi:type="dcterms:W3CDTF">2025-11-29T23:08:52Z</dcterms:modified>
  <dc:identifier>DAG6F5N0ytY</dc:identifier>
</cp:coreProperties>
</file>