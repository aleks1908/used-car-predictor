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TC Avant Garde Gothic" charset="1" panose="020B0502020202020204"/>
      <p:regular r:id="rId16"/>
    </p:embeddedFont>
    <p:embeddedFont>
      <p:font typeface="TT Fors" charset="1" panose="020B000303000102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949824"/>
            <a:chOff x="0" y="0"/>
            <a:chExt cx="13017500" cy="65997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541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Used C</a:t>
              </a:r>
              <a:r>
                <a:rPr lang="en-US" sz="9999" spc="-29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ar Price Prediction System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4A4A4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AUBG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Aleksandar Ivaylov Ivanov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8225040"/>
            <a:chOff x="0" y="0"/>
            <a:chExt cx="14935200" cy="109667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problem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35200"/>
              <a:ext cx="13498957" cy="8731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The used-car market is unpredictable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Prices depend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 many factors (mileage, age, fuel type, market trends)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Buyers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cann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 es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mate depreci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ation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accurately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Sellers have difficulty pricing fairly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No widely accessible interactive tool exists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11201400" cy="10119750"/>
            <a:chOff x="0" y="0"/>
            <a:chExt cx="14935200" cy="13493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How does the project solve the problem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746513"/>
              <a:ext cx="13498957" cy="10746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es real historical data to learn pricing patterns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Predicts fair market prices f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any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car con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igur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ov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ult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i-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ye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dep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cia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ion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Allows sid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-by-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ide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c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omp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riso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wo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car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ensemb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ML model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for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igh pr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edict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ive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p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forma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ce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Offers 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fa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 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y-to-u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web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inter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ace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9232523"/>
            <a:chOff x="0" y="0"/>
            <a:chExt cx="14935200" cy="1231003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Project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35200"/>
              <a:ext cx="13498957" cy="10074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ASP.NE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 Core backend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React + TypeScript frontend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CLI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for m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odel bu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il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din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Custom ML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a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orithms 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ra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m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bun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a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JSON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4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ty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es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 pr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ic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(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ng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,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mpar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on, range(single, comparison))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61053" y="849849"/>
            <a:ext cx="7309940" cy="8587302"/>
          </a:xfrm>
          <a:custGeom>
            <a:avLst/>
            <a:gdLst/>
            <a:ahLst/>
            <a:cxnLst/>
            <a:rect r="r" b="b" t="t" l="l"/>
            <a:pathLst>
              <a:path h="8587302" w="7309940">
                <a:moveTo>
                  <a:pt x="0" y="0"/>
                </a:moveTo>
                <a:lnTo>
                  <a:pt x="7309940" y="0"/>
                </a:lnTo>
                <a:lnTo>
                  <a:pt x="7309940" y="8587302"/>
                </a:lnTo>
                <a:lnTo>
                  <a:pt x="0" y="8587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8014956"/>
            <a:chOff x="0" y="0"/>
            <a:chExt cx="14935200" cy="1068660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Architecture Diagram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970054"/>
              <a:ext cx="13498957" cy="6716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CSV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Dataset → CLI Trainer → Model Bundles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P.NET Core API (Predicti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onCon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roller, ModelHotLoader, Acti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eM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el)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React SPA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(Si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le prediction,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dict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ion, Compare)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2829128" y="5180621"/>
            <a:ext cx="20585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868578" y="3348816"/>
            <a:ext cx="0" cy="18318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874532" y="3366912"/>
            <a:ext cx="167863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080484" y="3460510"/>
            <a:ext cx="3123182" cy="6356958"/>
          </a:xfrm>
          <a:custGeom>
            <a:avLst/>
            <a:gdLst/>
            <a:ahLst/>
            <a:cxnLst/>
            <a:rect r="r" b="b" t="t" l="l"/>
            <a:pathLst>
              <a:path h="6356958" w="3123182">
                <a:moveTo>
                  <a:pt x="0" y="0"/>
                </a:moveTo>
                <a:lnTo>
                  <a:pt x="3123182" y="0"/>
                </a:lnTo>
                <a:lnTo>
                  <a:pt x="3123182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04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11825" y="183778"/>
            <a:ext cx="3434608" cy="4959722"/>
          </a:xfrm>
          <a:custGeom>
            <a:avLst/>
            <a:gdLst/>
            <a:ahLst/>
            <a:cxnLst/>
            <a:rect r="r" b="b" t="t" l="l"/>
            <a:pathLst>
              <a:path h="4959722" w="3434608">
                <a:moveTo>
                  <a:pt x="0" y="0"/>
                </a:moveTo>
                <a:lnTo>
                  <a:pt x="3434607" y="0"/>
                </a:lnTo>
                <a:lnTo>
                  <a:pt x="3434607" y="4959722"/>
                </a:lnTo>
                <a:lnTo>
                  <a:pt x="0" y="495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16534457" y="3366912"/>
            <a:ext cx="0" cy="1690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12829128" y="5143500"/>
            <a:ext cx="0" cy="5617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8544" y="1220506"/>
            <a:ext cx="6907152" cy="7845988"/>
          </a:xfrm>
          <a:custGeom>
            <a:avLst/>
            <a:gdLst/>
            <a:ahLst/>
            <a:cxnLst/>
            <a:rect r="r" b="b" t="t" l="l"/>
            <a:pathLst>
              <a:path h="7845988" w="6907152">
                <a:moveTo>
                  <a:pt x="0" y="0"/>
                </a:moveTo>
                <a:lnTo>
                  <a:pt x="6907152" y="0"/>
                </a:lnTo>
                <a:lnTo>
                  <a:pt x="6907152" y="7845988"/>
                </a:lnTo>
                <a:lnTo>
                  <a:pt x="0" y="7845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844955" cy="8014956"/>
            <a:chOff x="0" y="0"/>
            <a:chExt cx="13126607" cy="106866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3126607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Class H</a:t>
              </a: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ierarchy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970054"/>
              <a:ext cx="11864287" cy="6716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CSV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Dataset → CLI Trainer → Model Bundles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P.NET Core API (Predicti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onCon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roller, ModelHotLoader, Acti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eM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el)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React SPA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(Si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le prediction,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dict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ion, Compare)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2720587" cy="10157680"/>
            <a:chOff x="0" y="0"/>
            <a:chExt cx="16960783" cy="1354357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Algorithms used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25432"/>
              <a:ext cx="16960783" cy="11418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Line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ar Regression – provides the simplest baseline for price estimation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Ridge Regression – adds stability and prevents overfitting in trend modeling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Random Forest – captures nonlinear patterns that linear mod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els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miss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Gradient Boosting – delivers highest accuracy by learning from residual errors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Hybrid Models – combine Ridge + RF/GB for stronger, more reliable predictions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2006278" cy="10065089"/>
            <a:chOff x="0" y="0"/>
            <a:chExt cx="16008371" cy="134201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3126607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Training P</a:t>
              </a: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ipeline &amp; Quality Gates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45288"/>
              <a:ext cx="16008371" cy="10074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Processes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raw vehicle data (cleaning, encoding, feature scaling)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Trains four algorithms on each (make, model) pair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Tunes hyperparameters using cross-validati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Applies strict quality gates (R², MAE, RMSE thresh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olds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)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Skips mod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els with insufficient data or missing categories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Saves only high-qualit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y m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odels as bundles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73028" y="341938"/>
            <a:ext cx="3997300" cy="9603123"/>
          </a:xfrm>
          <a:custGeom>
            <a:avLst/>
            <a:gdLst/>
            <a:ahLst/>
            <a:cxnLst/>
            <a:rect r="r" b="b" t="t" l="l"/>
            <a:pathLst>
              <a:path h="9603123" w="3997300">
                <a:moveTo>
                  <a:pt x="0" y="0"/>
                </a:moveTo>
                <a:lnTo>
                  <a:pt x="3997300" y="0"/>
                </a:lnTo>
                <a:lnTo>
                  <a:pt x="3997300" y="9603124"/>
                </a:lnTo>
                <a:lnTo>
                  <a:pt x="0" y="960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7950150"/>
            <a:chOff x="0" y="0"/>
            <a:chExt cx="14935200" cy="10600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Challe</a:t>
              </a: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nges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11990"/>
              <a:ext cx="13498957" cy="7388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RF/GB models were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unstable for long-term forecasts → required using Ridge for range predicti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Raw data had inconsistent model names → nee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ed a custom canonical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system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Ensuring safe model hot-loading 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36204" y="1036475"/>
            <a:ext cx="8643378" cy="82140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095761" cy="9767648"/>
            <a:chOff x="0" y="0"/>
            <a:chExt cx="14794348" cy="1302353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794348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</a:t>
              </a: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esults &amp; Findings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77044"/>
              <a:ext cx="9137674" cy="10746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High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model accuracy across most car models (strong MAE/RMSE and R² scores)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RF/GB + Ridge Regression models performed best overall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Strict quality gates prevented weak m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els from being saved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Backend test coverage: 84%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Fr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end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tes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c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overage: 98%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464322" y="2524286"/>
            <a:ext cx="10823678" cy="6734014"/>
          </a:xfrm>
          <a:custGeom>
            <a:avLst/>
            <a:gdLst/>
            <a:ahLst/>
            <a:cxnLst/>
            <a:rect r="r" b="b" t="t" l="l"/>
            <a:pathLst>
              <a:path h="6734014" w="10823678">
                <a:moveTo>
                  <a:pt x="0" y="0"/>
                </a:moveTo>
                <a:lnTo>
                  <a:pt x="10823678" y="0"/>
                </a:lnTo>
                <a:lnTo>
                  <a:pt x="10823678" y="6734014"/>
                </a:lnTo>
                <a:lnTo>
                  <a:pt x="0" y="6734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01" t="-10412" r="-3501" b="-675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Final Project Presentation</dc:description>
  <dc:identifier>DAG6F5N0ytY</dc:identifier>
  <dcterms:modified xsi:type="dcterms:W3CDTF">2011-08-01T06:04:30Z</dcterms:modified>
  <cp:revision>1</cp:revision>
  <dc:title>Presentation - Final Project Presentation</dc:title>
</cp:coreProperties>
</file>