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ITC Avant Garde Gothic" panose="020B0502020202020204" pitchFamily="34" charset="77"/>
      <p:regular r:id="rId12"/>
    </p:embeddedFont>
    <p:embeddedFont>
      <p:font typeface="TT Fors" panose="020B0003030001020000" pitchFamily="3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 autoAdjust="0"/>
    <p:restoredTop sz="94598" autoAdjust="0"/>
  </p:normalViewPr>
  <p:slideViewPr>
    <p:cSldViewPr>
      <p:cViewPr varScale="1">
        <p:scale>
          <a:sx n="79" d="100"/>
          <a:sy n="79" d="100"/>
        </p:scale>
        <p:origin x="904" y="2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868150" y="0"/>
            <a:ext cx="6419850" cy="10287000"/>
            <a:chOff x="0" y="0"/>
            <a:chExt cx="994603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94603" cy="1593725"/>
            </a:xfrm>
            <a:custGeom>
              <a:avLst/>
              <a:gdLst/>
              <a:ahLst/>
              <a:cxnLst/>
              <a:rect l="l" t="t" r="r" b="b"/>
              <a:pathLst>
                <a:path w="994603" h="1593725">
                  <a:moveTo>
                    <a:pt x="0" y="0"/>
                  </a:moveTo>
                  <a:lnTo>
                    <a:pt x="994603" y="0"/>
                  </a:lnTo>
                  <a:lnTo>
                    <a:pt x="994603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t="-126" b="-126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666750" y="666750"/>
            <a:ext cx="9763125" cy="4949824"/>
            <a:chOff x="0" y="0"/>
            <a:chExt cx="13017500" cy="6599766"/>
          </a:xfrm>
        </p:grpSpPr>
        <p:sp>
          <p:nvSpPr>
            <p:cNvPr id="5" name="TextBox 5"/>
            <p:cNvSpPr txBox="1"/>
            <p:nvPr/>
          </p:nvSpPr>
          <p:spPr>
            <a:xfrm>
              <a:off x="0" y="1184275"/>
              <a:ext cx="13017500" cy="54154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999"/>
                </a:lnSpc>
              </a:pPr>
              <a:r>
                <a:rPr lang="en-US" sz="9999" spc="-299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Used Car Price Prediction System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04775"/>
              <a:ext cx="13017500" cy="626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en-US" sz="2600">
                  <a:solidFill>
                    <a:srgbClr val="4A4A4A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AUBG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663474" y="9181465"/>
            <a:ext cx="7194651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40"/>
              </a:lnSpc>
            </a:pPr>
            <a:r>
              <a:rPr lang="en-US" sz="2600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rPr>
              <a:t>Aleksandar Ivaylov Ivanov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9444829" y="7829550"/>
            <a:ext cx="4846643" cy="1791955"/>
            <a:chOff x="0" y="0"/>
            <a:chExt cx="6462190" cy="238927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1201400" cy="8225040"/>
            <a:chOff x="0" y="0"/>
            <a:chExt cx="14935200" cy="10966720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The problem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235200"/>
              <a:ext cx="13498957" cy="87315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The used-car market is unpredictable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Prices depend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on many factors (mileage, age, fuel type, market trends)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Buyers cannot estimate depreciation accurately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Sellers have difficulty pricing fairly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No widely accessible interactive tool exists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4744700" y="7829550"/>
            <a:ext cx="4846643" cy="1791955"/>
            <a:chOff x="0" y="0"/>
            <a:chExt cx="6462190" cy="238927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744700" y="7829550"/>
            <a:ext cx="4846643" cy="1791955"/>
            <a:chOff x="0" y="0"/>
            <a:chExt cx="6462190" cy="238927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666750" y="666750"/>
            <a:ext cx="11201400" cy="10119750"/>
            <a:chOff x="0" y="0"/>
            <a:chExt cx="14935200" cy="13493000"/>
          </a:xfrm>
        </p:grpSpPr>
        <p:sp>
          <p:nvSpPr>
            <p:cNvPr id="7" name="TextBox 7"/>
            <p:cNvSpPr txBox="1"/>
            <p:nvPr/>
          </p:nvSpPr>
          <p:spPr>
            <a:xfrm>
              <a:off x="0" y="-9525"/>
              <a:ext cx="14935200" cy="29728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How does the project solve the problem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2746513"/>
              <a:ext cx="13498957" cy="107464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Uses real historical data to learn pricing patterns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Predicts fair market prices fo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any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car con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igur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at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ov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m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ult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i-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ye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dep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cia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ion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fo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ca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ts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Allows sid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-by-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ide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c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omp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riso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 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wo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car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Us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 ensemb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ML model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for 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h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igh pr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edict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ive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p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forma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ce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Offers a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fa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an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 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y-to-u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web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inter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ace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1201400" cy="9232523"/>
            <a:chOff x="0" y="0"/>
            <a:chExt cx="14935200" cy="12310031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Project overview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235200"/>
              <a:ext cx="13498957" cy="100748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ASP.NET Core backend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React + TypeScript frontend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CLI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for m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odel bu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il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din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Custom ML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a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orithms 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ra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ed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m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od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bun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 s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to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red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a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 JSON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4 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ty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es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 pr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ed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ic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(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si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ng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,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mpar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is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on, range(single, comparison))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sp>
        <p:nvSpPr>
          <p:cNvPr id="5" name="Freeform 5"/>
          <p:cNvSpPr/>
          <p:nvPr/>
        </p:nvSpPr>
        <p:spPr>
          <a:xfrm>
            <a:off x="10461053" y="849849"/>
            <a:ext cx="7309940" cy="8587302"/>
          </a:xfrm>
          <a:custGeom>
            <a:avLst/>
            <a:gdLst/>
            <a:ahLst/>
            <a:cxnLst/>
            <a:rect l="l" t="t" r="r" b="b"/>
            <a:pathLst>
              <a:path w="7309940" h="8587302">
                <a:moveTo>
                  <a:pt x="0" y="0"/>
                </a:moveTo>
                <a:lnTo>
                  <a:pt x="7309940" y="0"/>
                </a:lnTo>
                <a:lnTo>
                  <a:pt x="7309940" y="8587302"/>
                </a:lnTo>
                <a:lnTo>
                  <a:pt x="0" y="85873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1201400" cy="8014956"/>
            <a:chOff x="0" y="0"/>
            <a:chExt cx="14935200" cy="10686608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Architecture Diagram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970054"/>
              <a:ext cx="13498957" cy="67165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CSV Dataset → CLI Trainer → Model Bundles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ASP.NET Core API (PredictionCon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roller, ModelHotLoader, Acti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v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eModel)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React SPA U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(Si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le prediction,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dict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ion, Compare)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sp>
        <p:nvSpPr>
          <p:cNvPr id="5" name="AutoShape 5"/>
          <p:cNvSpPr/>
          <p:nvPr/>
        </p:nvSpPr>
        <p:spPr>
          <a:xfrm flipV="1">
            <a:off x="12829128" y="5180621"/>
            <a:ext cx="20585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>
            <a:off x="14868578" y="3348816"/>
            <a:ext cx="0" cy="1831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AutoShape 7"/>
          <p:cNvSpPr/>
          <p:nvPr/>
        </p:nvSpPr>
        <p:spPr>
          <a:xfrm>
            <a:off x="14874532" y="3366912"/>
            <a:ext cx="167863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Freeform 8"/>
          <p:cNvSpPr/>
          <p:nvPr/>
        </p:nvSpPr>
        <p:spPr>
          <a:xfrm>
            <a:off x="15080484" y="3460510"/>
            <a:ext cx="3123182" cy="6356958"/>
          </a:xfrm>
          <a:custGeom>
            <a:avLst/>
            <a:gdLst/>
            <a:ahLst/>
            <a:cxnLst/>
            <a:rect l="l" t="t" r="r" b="b"/>
            <a:pathLst>
              <a:path w="3123182" h="6356958">
                <a:moveTo>
                  <a:pt x="0" y="0"/>
                </a:moveTo>
                <a:lnTo>
                  <a:pt x="3123182" y="0"/>
                </a:lnTo>
                <a:lnTo>
                  <a:pt x="3123182" y="6356959"/>
                </a:lnTo>
                <a:lnTo>
                  <a:pt x="0" y="63569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604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1111825" y="183778"/>
            <a:ext cx="3434608" cy="4959722"/>
          </a:xfrm>
          <a:custGeom>
            <a:avLst/>
            <a:gdLst/>
            <a:ahLst/>
            <a:cxnLst/>
            <a:rect l="l" t="t" r="r" b="b"/>
            <a:pathLst>
              <a:path w="3434608" h="4959722">
                <a:moveTo>
                  <a:pt x="0" y="0"/>
                </a:moveTo>
                <a:lnTo>
                  <a:pt x="3434607" y="0"/>
                </a:lnTo>
                <a:lnTo>
                  <a:pt x="3434607" y="4959722"/>
                </a:lnTo>
                <a:lnTo>
                  <a:pt x="0" y="49597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0" name="AutoShape 10"/>
          <p:cNvSpPr/>
          <p:nvPr/>
        </p:nvSpPr>
        <p:spPr>
          <a:xfrm flipV="1">
            <a:off x="16534457" y="3366912"/>
            <a:ext cx="0" cy="1690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AutoShape 11"/>
          <p:cNvSpPr/>
          <p:nvPr/>
        </p:nvSpPr>
        <p:spPr>
          <a:xfrm flipH="1" flipV="1">
            <a:off x="12829128" y="5143500"/>
            <a:ext cx="0" cy="561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68544" y="1220506"/>
            <a:ext cx="6907152" cy="7845988"/>
          </a:xfrm>
          <a:custGeom>
            <a:avLst/>
            <a:gdLst/>
            <a:ahLst/>
            <a:cxnLst/>
            <a:rect l="l" t="t" r="r" b="b"/>
            <a:pathLst>
              <a:path w="6907152" h="7845988">
                <a:moveTo>
                  <a:pt x="0" y="0"/>
                </a:moveTo>
                <a:lnTo>
                  <a:pt x="6907152" y="0"/>
                </a:lnTo>
                <a:lnTo>
                  <a:pt x="6907152" y="7845988"/>
                </a:lnTo>
                <a:lnTo>
                  <a:pt x="0" y="78459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666750" y="666750"/>
            <a:ext cx="9844955" cy="8014956"/>
            <a:chOff x="0" y="0"/>
            <a:chExt cx="13126607" cy="10686608"/>
          </a:xfrm>
        </p:grpSpPr>
        <p:sp>
          <p:nvSpPr>
            <p:cNvPr id="4" name="TextBox 4"/>
            <p:cNvSpPr txBox="1"/>
            <p:nvPr/>
          </p:nvSpPr>
          <p:spPr>
            <a:xfrm>
              <a:off x="0" y="-9525"/>
              <a:ext cx="13126607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Class Hierarchy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3970054"/>
              <a:ext cx="11864287" cy="67165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CSV Dataset → CLI Trainer → Model Bundles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ASP.NET Core API (PredictionCon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roller, ModelHotLoader, Acti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v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eModel)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React SPA U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(Si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le prediction,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an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 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pr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dict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ion, Compare)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2720587" cy="10661422"/>
            <a:chOff x="0" y="0"/>
            <a:chExt cx="16960783" cy="14215229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Algorithms used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125432"/>
              <a:ext cx="16960783" cy="120897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Linear Regression – provides the simplest baseline for price estimation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Ridge Regression – adds stability and prevents overfitting in trend modeling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Random Forest – captures nonlinear patterns that linear models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miss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u="none" strike="noStrike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Gradient Boosting – delivers highest accuracy by learning from residual errors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Hybrid Models – combine Ridge + RF/GB for stronger, more reliable predictions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4744700" y="7829550"/>
            <a:ext cx="4846643" cy="1791955"/>
            <a:chOff x="0" y="0"/>
            <a:chExt cx="6462190" cy="238927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2006278" cy="10065089"/>
            <a:chOff x="0" y="0"/>
            <a:chExt cx="16008371" cy="13420119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3126607" cy="29728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Training Pipeline &amp; Quality Gates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345288"/>
              <a:ext cx="16008371" cy="100748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Processes raw vehicle data (cleaning, encoding, feature scaling)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Trains four algorithms on each (make, model) pair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Tunes hyperparameters using cross-validation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Applies strict quality gates (R², MAE, RMSE thresholds)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Skips models with insufficient data or missing categories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Saves only high-qualit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y m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odels as bundles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sp>
        <p:nvSpPr>
          <p:cNvPr id="5" name="Freeform 5"/>
          <p:cNvSpPr/>
          <p:nvPr/>
        </p:nvSpPr>
        <p:spPr>
          <a:xfrm>
            <a:off x="12673028" y="341938"/>
            <a:ext cx="3997300" cy="9603123"/>
          </a:xfrm>
          <a:custGeom>
            <a:avLst/>
            <a:gdLst/>
            <a:ahLst/>
            <a:cxnLst/>
            <a:rect l="l" t="t" r="r" b="b"/>
            <a:pathLst>
              <a:path w="3997300" h="9603123">
                <a:moveTo>
                  <a:pt x="0" y="0"/>
                </a:moveTo>
                <a:lnTo>
                  <a:pt x="3997300" y="0"/>
                </a:lnTo>
                <a:lnTo>
                  <a:pt x="3997300" y="9603124"/>
                </a:lnTo>
                <a:lnTo>
                  <a:pt x="0" y="96031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1201400" cy="7950150"/>
            <a:chOff x="0" y="0"/>
            <a:chExt cx="14935200" cy="10600200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4935200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Challenges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3211990"/>
              <a:ext cx="13498957" cy="73882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RF/GB models were unstable for long-term forecasts → required using Ridge for range predictions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Raw data had inconsistent model names → needed a custom canonical I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D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system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Ensuring safe model hot-loading 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204" y="1036475"/>
            <a:ext cx="8643378" cy="82140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666750"/>
            <a:ext cx="11095761" cy="9767648"/>
            <a:chOff x="0" y="0"/>
            <a:chExt cx="14794348" cy="13023531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4794348" cy="1626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>
                  <a:solidFill>
                    <a:srgbClr val="000000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Results &amp; Findings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277044"/>
              <a:ext cx="9137674" cy="107464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82"/>
                </a:lnSpc>
              </a:pPr>
              <a:endParaRPr/>
            </a:p>
            <a:p>
              <a:pPr marL="716431" lvl="1" indent="-358216" algn="l">
                <a:lnSpc>
                  <a:spcPts val="3982"/>
                </a:lnSpc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High model accuracy across most car models (strong MAE/RMSE and R² scores)</a:t>
              </a:r>
            </a:p>
            <a:p>
              <a:pPr algn="l">
                <a:lnSpc>
                  <a:spcPts val="3982"/>
                </a:lnSpc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RF/GB + Ridge Regression models performed best overall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Strict quality gates prevented weak models from being saved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Backend test coverage: 84%</a:t>
              </a:r>
            </a:p>
            <a:p>
              <a:pPr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716431" lvl="1" indent="-358216" algn="l">
                <a:lnSpc>
                  <a:spcPts val="398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Fr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ont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end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tes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t</a:t>
              </a:r>
              <a:r>
                <a:rPr lang="en-US" sz="3318" u="none" strike="noStrike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 c</a:t>
              </a:r>
              <a:r>
                <a:rPr lang="en-US" sz="3318" spc="-99">
                  <a:solidFill>
                    <a:srgbClr val="4A4A4A"/>
                  </a:solidFill>
                  <a:latin typeface="TT Fors"/>
                  <a:ea typeface="TT Fors"/>
                  <a:cs typeface="TT Fors"/>
                  <a:sym typeface="TT Fors"/>
                </a:rPr>
                <a:t>overage: 98%</a:t>
              </a: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  <a:p>
              <a:pPr marL="0" lvl="0" indent="0" algn="l">
                <a:lnSpc>
                  <a:spcPts val="3982"/>
                </a:lnSpc>
                <a:spcBef>
                  <a:spcPct val="0"/>
                </a:spcBef>
              </a:pPr>
              <a:endParaRPr lang="en-US" sz="3318" spc="-99">
                <a:solidFill>
                  <a:srgbClr val="4A4A4A"/>
                </a:solidFill>
                <a:latin typeface="TT Fors"/>
                <a:ea typeface="TT Fors"/>
                <a:cs typeface="TT Fors"/>
                <a:sym typeface="TT Fors"/>
              </a:endParaRPr>
            </a:p>
          </p:txBody>
        </p:sp>
      </p:grpSp>
      <p:sp>
        <p:nvSpPr>
          <p:cNvPr id="5" name="Freeform 5"/>
          <p:cNvSpPr/>
          <p:nvPr/>
        </p:nvSpPr>
        <p:spPr>
          <a:xfrm>
            <a:off x="7464322" y="2524286"/>
            <a:ext cx="10823678" cy="6734014"/>
          </a:xfrm>
          <a:custGeom>
            <a:avLst/>
            <a:gdLst/>
            <a:ahLst/>
            <a:cxnLst/>
            <a:rect l="l" t="t" r="r" b="b"/>
            <a:pathLst>
              <a:path w="10823678" h="6734014">
                <a:moveTo>
                  <a:pt x="0" y="0"/>
                </a:moveTo>
                <a:lnTo>
                  <a:pt x="10823678" y="0"/>
                </a:lnTo>
                <a:lnTo>
                  <a:pt x="10823678" y="6734014"/>
                </a:lnTo>
                <a:lnTo>
                  <a:pt x="0" y="6734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01" t="-10412" r="-3501" b="-6754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405</Words>
  <Application>Microsoft Macintosh PowerPoint</Application>
  <PresentationFormat>Custom</PresentationFormat>
  <Paragraphs>97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ITC Avant Garde Gothic</vt:lpstr>
      <vt:lpstr>TT Fors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- Final Project Presentation</dc:title>
  <dc:description>Presentation - Final Project Presentation</dc:description>
  <cp:lastModifiedBy>Aleks4o</cp:lastModifiedBy>
  <cp:revision>1</cp:revision>
  <dcterms:created xsi:type="dcterms:W3CDTF">2006-08-16T00:00:00Z</dcterms:created>
  <dcterms:modified xsi:type="dcterms:W3CDTF">2025-11-30T21:06:59Z</dcterms:modified>
  <dc:identifier>DAG6F5N0ytY</dc:identifier>
</cp:coreProperties>
</file>