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ITC Avant Garde Gothic" charset="1" panose="020B0502020202020204"/>
      <p:regular r:id="rId17"/>
    </p:embeddedFont>
    <p:embeddedFont>
      <p:font typeface="TT Fors" charset="1" panose="020B000303000102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68150" y="0"/>
            <a:ext cx="6419850" cy="10287000"/>
            <a:chOff x="0" y="0"/>
            <a:chExt cx="994603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4603" cy="1593725"/>
            </a:xfrm>
            <a:custGeom>
              <a:avLst/>
              <a:gdLst/>
              <a:ahLst/>
              <a:cxnLst/>
              <a:rect r="r" b="b" t="t" l="l"/>
              <a:pathLst>
                <a:path h="1593725" w="994603">
                  <a:moveTo>
                    <a:pt x="0" y="0"/>
                  </a:moveTo>
                  <a:lnTo>
                    <a:pt x="994603" y="0"/>
                  </a:lnTo>
                  <a:lnTo>
                    <a:pt x="99460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126" r="0" b="-12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9763125" cy="4949824"/>
            <a:chOff x="0" y="0"/>
            <a:chExt cx="13017500" cy="659976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184275"/>
              <a:ext cx="13017500" cy="54154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99"/>
                </a:lnSpc>
              </a:pPr>
              <a:r>
                <a:rPr lang="en-US" sz="9999" spc="-29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Used C</a:t>
              </a:r>
              <a:r>
                <a:rPr lang="en-US" sz="9999" spc="-29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ar Price Prediction System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-104775"/>
              <a:ext cx="13017500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sz="2600">
                  <a:solidFill>
                    <a:srgbClr val="4A4A4A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AUBG 2025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63474" y="9181465"/>
            <a:ext cx="7194651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sz="2600">
                <a:solidFill>
                  <a:srgbClr val="4A4A4A"/>
                </a:solidFill>
                <a:latin typeface="TT Fors"/>
                <a:ea typeface="TT Fors"/>
                <a:cs typeface="TT Fors"/>
                <a:sym typeface="TT Fors"/>
              </a:rPr>
              <a:t>Aleksandar Ivaylov Ivanov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444829" y="7829550"/>
            <a:ext cx="4846643" cy="1791955"/>
            <a:chOff x="0" y="0"/>
            <a:chExt cx="6462190" cy="23892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1201400" cy="8225040"/>
            <a:chOff x="0" y="0"/>
            <a:chExt cx="14935200" cy="1096672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49352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The problem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235200"/>
              <a:ext cx="13498957" cy="87315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82"/>
                </a:lnSpc>
              </a:pPr>
            </a:p>
            <a:p>
              <a:pPr algn="l" marL="716431" indent="-358216" lvl="1">
                <a:lnSpc>
                  <a:spcPts val="3982"/>
                </a:lnSpc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The used-car market is unpredictable</a:t>
              </a:r>
            </a:p>
            <a:p>
              <a:pPr algn="l">
                <a:lnSpc>
                  <a:spcPts val="3982"/>
                </a:lnSpc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Prices depend 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on many factors (mileage, age, fuel type)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Buyers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cann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t es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ti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mate depreci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ation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accurately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Sellers have difficulty pricing fairly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No widely accessible interactive tool exists</a:t>
              </a:r>
            </a:p>
            <a:p>
              <a:pPr algn="l" marL="0" indent="0" lvl="0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3982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66750" y="666750"/>
            <a:ext cx="11201400" cy="10119750"/>
            <a:chOff x="0" y="0"/>
            <a:chExt cx="14935200" cy="134930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9525"/>
              <a:ext cx="14935200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How does the project solve the problem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746513"/>
              <a:ext cx="13498957" cy="107464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82"/>
                </a:lnSpc>
              </a:pPr>
            </a:p>
            <a:p>
              <a:pPr algn="l" marL="716431" indent="-358216" lvl="1">
                <a:lnSpc>
                  <a:spcPts val="3982"/>
                </a:lnSpc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Us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es real historical data to learn pricing patterns</a:t>
              </a:r>
            </a:p>
            <a:p>
              <a:pPr algn="l">
                <a:lnSpc>
                  <a:spcPts val="3982"/>
                </a:lnSpc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Predicts fair market prices f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any 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car con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f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igur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at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P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ov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d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s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m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ult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i-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ye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ar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dep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re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cia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ion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fo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re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ca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s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ts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Allows sid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-by-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s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ide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c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omp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riso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f 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wo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car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s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Us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s ensemb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le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ML model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s 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for 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h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igh pr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edict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ive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p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forma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ce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Has user friendly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web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inter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f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ace</a:t>
              </a:r>
            </a:p>
            <a:p>
              <a:pPr algn="l" marL="0" indent="0" lvl="0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3982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1201400" cy="9232523"/>
            <a:chOff x="0" y="0"/>
            <a:chExt cx="14935200" cy="12310031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49352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Project overview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235200"/>
              <a:ext cx="13498957" cy="100748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82"/>
                </a:lnSpc>
              </a:pPr>
            </a:p>
            <a:p>
              <a:pPr algn="l" marL="716431" indent="-358216" lvl="1">
                <a:lnSpc>
                  <a:spcPts val="3982"/>
                </a:lnSpc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ASP.NE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T Core backend</a:t>
              </a:r>
            </a:p>
            <a:p>
              <a:pPr algn="l">
                <a:lnSpc>
                  <a:spcPts val="3982"/>
                </a:lnSpc>
              </a:pPr>
            </a:p>
            <a:p>
              <a:pPr algn="l" marL="716431" indent="-358216" lvl="1">
                <a:lnSpc>
                  <a:spcPts val="3982"/>
                </a:lnSpc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React + TypeScript frontend</a:t>
              </a:r>
            </a:p>
            <a:p>
              <a:pPr algn="l">
                <a:lnSpc>
                  <a:spcPts val="3982"/>
                </a:lnSpc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CLI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tr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er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for m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odel bu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il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din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g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Custom ML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a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l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g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orithms 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ra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ed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m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od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l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bun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d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l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s s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to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red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a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s JSON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4 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ty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p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es 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f pr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ed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ic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s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(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si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ng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le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,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c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mpar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is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on, range(single, comparison))</a:t>
              </a:r>
            </a:p>
            <a:p>
              <a:pPr algn="l" marL="0" indent="0" lvl="0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3982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461053" y="849849"/>
            <a:ext cx="7309940" cy="8587302"/>
          </a:xfrm>
          <a:custGeom>
            <a:avLst/>
            <a:gdLst/>
            <a:ahLst/>
            <a:cxnLst/>
            <a:rect r="r" b="b" t="t" l="l"/>
            <a:pathLst>
              <a:path h="8587302" w="7309940">
                <a:moveTo>
                  <a:pt x="0" y="0"/>
                </a:moveTo>
                <a:lnTo>
                  <a:pt x="7309940" y="0"/>
                </a:lnTo>
                <a:lnTo>
                  <a:pt x="7309940" y="8587302"/>
                </a:lnTo>
                <a:lnTo>
                  <a:pt x="0" y="85873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1201400" cy="8014956"/>
            <a:chOff x="0" y="0"/>
            <a:chExt cx="14935200" cy="10686608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49352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Architecture Diagram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970054"/>
              <a:ext cx="13498957" cy="67165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82"/>
                </a:lnSpc>
              </a:pPr>
            </a:p>
            <a:p>
              <a:pPr algn="l" marL="716431" indent="-358216" lvl="1">
                <a:lnSpc>
                  <a:spcPts val="3982"/>
                </a:lnSpc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CSV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Dataset → CLI Trainer → Model Bundles</a:t>
              </a:r>
            </a:p>
            <a:p>
              <a:pPr algn="l">
                <a:lnSpc>
                  <a:spcPts val="3982"/>
                </a:lnSpc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AS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P.NET Core API (Predicti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onCon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roller, ModelHotLoader, Acti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v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eM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od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el)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React SPA 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U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(Si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n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g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le prediction, 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an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g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 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pr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dict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ion, Compare)</a:t>
              </a:r>
            </a:p>
            <a:p>
              <a:pPr algn="l" marL="0" indent="0" lvl="0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3982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12829128" y="5180621"/>
            <a:ext cx="20585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4868578" y="3348816"/>
            <a:ext cx="0" cy="183180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4874532" y="3366912"/>
            <a:ext cx="167863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5080484" y="3460510"/>
            <a:ext cx="3123182" cy="6356958"/>
          </a:xfrm>
          <a:custGeom>
            <a:avLst/>
            <a:gdLst/>
            <a:ahLst/>
            <a:cxnLst/>
            <a:rect r="r" b="b" t="t" l="l"/>
            <a:pathLst>
              <a:path h="6356958" w="3123182">
                <a:moveTo>
                  <a:pt x="0" y="0"/>
                </a:moveTo>
                <a:lnTo>
                  <a:pt x="3123182" y="0"/>
                </a:lnTo>
                <a:lnTo>
                  <a:pt x="3123182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604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111825" y="183778"/>
            <a:ext cx="3434608" cy="4959722"/>
          </a:xfrm>
          <a:custGeom>
            <a:avLst/>
            <a:gdLst/>
            <a:ahLst/>
            <a:cxnLst/>
            <a:rect r="r" b="b" t="t" l="l"/>
            <a:pathLst>
              <a:path h="4959722" w="3434608">
                <a:moveTo>
                  <a:pt x="0" y="0"/>
                </a:moveTo>
                <a:lnTo>
                  <a:pt x="3434607" y="0"/>
                </a:lnTo>
                <a:lnTo>
                  <a:pt x="3434607" y="4959722"/>
                </a:lnTo>
                <a:lnTo>
                  <a:pt x="0" y="49597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 flipV="true">
            <a:off x="16534457" y="3366912"/>
            <a:ext cx="0" cy="16906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H="true" flipV="true">
            <a:off x="12829128" y="5143500"/>
            <a:ext cx="0" cy="5617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82696" y="1220506"/>
            <a:ext cx="7281121" cy="8270787"/>
          </a:xfrm>
          <a:custGeom>
            <a:avLst/>
            <a:gdLst/>
            <a:ahLst/>
            <a:cxnLst/>
            <a:rect r="r" b="b" t="t" l="l"/>
            <a:pathLst>
              <a:path h="8270787" w="7281121">
                <a:moveTo>
                  <a:pt x="0" y="0"/>
                </a:moveTo>
                <a:lnTo>
                  <a:pt x="7281120" y="0"/>
                </a:lnTo>
                <a:lnTo>
                  <a:pt x="7281120" y="8270787"/>
                </a:lnTo>
                <a:lnTo>
                  <a:pt x="0" y="8270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0215946" cy="9745128"/>
            <a:chOff x="0" y="0"/>
            <a:chExt cx="13621261" cy="1299350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9525"/>
              <a:ext cx="12515138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Class H</a:t>
              </a:r>
              <a:r>
                <a:rPr lang="en-US" sz="8000" spc="-240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ierarchy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247018"/>
              <a:ext cx="13621261" cy="107464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82"/>
                </a:lnSpc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A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ll algorithms implem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ent IRegressor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Ridge &amp; Linear Regression → baseline linear models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DecisionTreeRegress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or is th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 core model for RF &amp; GB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RandomForestRegressor → trees in parallel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GradientBoostingRegressor 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→ trees trained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sequentially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Metrics 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→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co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mp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utes MAE, RMSE, R² for evaluation</a:t>
              </a:r>
            </a:p>
            <a:p>
              <a:pPr algn="l" marL="0" indent="0" lvl="0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3982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4281555" cy="9342119"/>
            <a:chOff x="0" y="0"/>
            <a:chExt cx="19042074" cy="1245615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49352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Algorithms used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381328"/>
              <a:ext cx="19042074" cy="100748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82"/>
                </a:lnSpc>
              </a:pPr>
            </a:p>
            <a:p>
              <a:pPr algn="l" marL="716431" indent="-358216" lvl="1">
                <a:lnSpc>
                  <a:spcPts val="3982"/>
                </a:lnSpc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Line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ar Regression – provides the simplest baseline for price estimation. 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Complexity: O(E · n · m) </a:t>
              </a:r>
            </a:p>
            <a:p>
              <a:pPr algn="l">
                <a:lnSpc>
                  <a:spcPts val="3982"/>
                </a:lnSpc>
              </a:pPr>
            </a:p>
            <a:p>
              <a:pPr algn="l" marL="716431" indent="-358216" lvl="1">
                <a:lnSpc>
                  <a:spcPts val="3982"/>
                </a:lnSpc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Ridge Regression – adds stability and prevents overfitting in trend modeling. 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Complexity: O(m² · n) </a:t>
              </a:r>
            </a:p>
            <a:p>
              <a:pPr algn="l">
                <a:lnSpc>
                  <a:spcPts val="3982"/>
                </a:lnSpc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Random Forest – captures nonlinear patterns that linear mod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els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miss. 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Complexity: O(t · k · m · log k) 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Gradient Boosting – delivers highest accuracy by learning from residual errors. 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Complexity: O(t · k · m · log k) 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3982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744700" y="7829550"/>
            <a:ext cx="4846643" cy="1791955"/>
            <a:chOff x="0" y="0"/>
            <a:chExt cx="6462190" cy="23892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036459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4072917" y="0"/>
              <a:ext cx="2389273" cy="2389273"/>
            </a:xfrm>
            <a:custGeom>
              <a:avLst/>
              <a:gdLst/>
              <a:ahLst/>
              <a:cxnLst/>
              <a:rect r="r" b="b" t="t" l="l"/>
              <a:pathLst>
                <a:path h="2389273" w="2389273">
                  <a:moveTo>
                    <a:pt x="0" y="0"/>
                  </a:moveTo>
                  <a:lnTo>
                    <a:pt x="2389273" y="0"/>
                  </a:lnTo>
                  <a:lnTo>
                    <a:pt x="2389273" y="2389273"/>
                  </a:lnTo>
                  <a:lnTo>
                    <a:pt x="0" y="2389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2006278" cy="10065089"/>
            <a:chOff x="0" y="0"/>
            <a:chExt cx="16008371" cy="1342011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3126607" cy="29728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Training P</a:t>
              </a:r>
              <a:r>
                <a:rPr lang="en-US" sz="8000" spc="-240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ipeline &amp; Quality Gates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345288"/>
              <a:ext cx="16008371" cy="100748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82"/>
                </a:lnSpc>
              </a:pPr>
            </a:p>
            <a:p>
              <a:pPr algn="l" marL="716431" indent="-358216" lvl="1">
                <a:lnSpc>
                  <a:spcPts val="3982"/>
                </a:lnSpc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Processes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raw vehicle data (cleaning, encoding, feature scaling)</a:t>
              </a:r>
            </a:p>
            <a:p>
              <a:pPr algn="l">
                <a:lnSpc>
                  <a:spcPts val="3982"/>
                </a:lnSpc>
              </a:pPr>
            </a:p>
            <a:p>
              <a:pPr algn="l" marL="716431" indent="-358216" lvl="1">
                <a:lnSpc>
                  <a:spcPts val="3982"/>
                </a:lnSpc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Trains all algorithms on each (make, model) pair</a:t>
              </a:r>
            </a:p>
            <a:p>
              <a:pPr algn="l">
                <a:lnSpc>
                  <a:spcPts val="3982"/>
                </a:lnSpc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Tunes hyperparameters using cross-validati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on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Applies strict quality gates (R², MAE, RMSE thresh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olds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)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Skips mod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els with insufficient data or missing categories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Saves only high-qualit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y m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odels as bundles</a:t>
              </a:r>
            </a:p>
            <a:p>
              <a:pPr algn="l" marL="0" indent="0" lvl="0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3982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673028" y="341938"/>
            <a:ext cx="3997300" cy="9603123"/>
          </a:xfrm>
          <a:custGeom>
            <a:avLst/>
            <a:gdLst/>
            <a:ahLst/>
            <a:cxnLst/>
            <a:rect r="r" b="b" t="t" l="l"/>
            <a:pathLst>
              <a:path h="9603123" w="3997300">
                <a:moveTo>
                  <a:pt x="0" y="0"/>
                </a:moveTo>
                <a:lnTo>
                  <a:pt x="3997300" y="0"/>
                </a:lnTo>
                <a:lnTo>
                  <a:pt x="3997300" y="9603124"/>
                </a:lnTo>
                <a:lnTo>
                  <a:pt x="0" y="96031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1201400" cy="7950150"/>
            <a:chOff x="0" y="0"/>
            <a:chExt cx="14935200" cy="106002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4935200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Challe</a:t>
              </a:r>
              <a:r>
                <a:rPr lang="en-US" sz="8000" spc="-240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nges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211990"/>
              <a:ext cx="13498957" cy="73882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82"/>
                </a:lnSpc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RF/GB models were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unstable for long-term forecasts → required using Ridge for range predicti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ons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Raw data had inconsistent model names → nee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d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ed a custom canonical 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I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D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system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Ensuring safe model hot-loading </a:t>
              </a:r>
            </a:p>
            <a:p>
              <a:pPr algn="l" marL="0" indent="0" lvl="0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3982"/>
                </a:lnSpc>
                <a:spcBef>
                  <a:spcPct val="0"/>
                </a:spcBef>
              </a:pPr>
            </a:p>
          </p:txBody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336204" y="1036475"/>
            <a:ext cx="8643378" cy="82140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1095761" cy="9767648"/>
            <a:chOff x="0" y="0"/>
            <a:chExt cx="14794348" cy="13023531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4794348" cy="16266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000"/>
                </a:lnSpc>
                <a:spcBef>
                  <a:spcPct val="0"/>
                </a:spcBef>
              </a:pPr>
              <a:r>
                <a:rPr lang="en-US" sz="8000" spc="-240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R</a:t>
              </a:r>
              <a:r>
                <a:rPr lang="en-US" sz="8000" spc="-240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esults &amp; Findings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277044"/>
              <a:ext cx="9137674" cy="107464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82"/>
                </a:lnSpc>
              </a:pPr>
            </a:p>
            <a:p>
              <a:pPr algn="l" marL="716431" indent="-358216" lvl="1">
                <a:lnSpc>
                  <a:spcPts val="3982"/>
                </a:lnSpc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High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model accuracy across most car models (strong MAE/RMSE and R² scores)</a:t>
              </a:r>
            </a:p>
            <a:p>
              <a:pPr algn="l">
                <a:lnSpc>
                  <a:spcPts val="3982"/>
                </a:lnSpc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RF/GB + Ridge Regression models performed best overall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Strict quality gates prevented weak m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od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els from being saved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Backend test coverage: 84%</a:t>
              </a:r>
            </a:p>
            <a:p>
              <a:pPr algn="l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716431" indent="-358216" lvl="1">
                <a:lnSpc>
                  <a:spcPts val="3982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Fr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ont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end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tes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t</a:t>
              </a:r>
              <a:r>
                <a:rPr lang="en-US" sz="3318" spc="-99" strike="noStrike" u="none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 c</a:t>
              </a:r>
              <a:r>
                <a:rPr lang="en-US" sz="3318" spc="-99">
                  <a:solidFill>
                    <a:srgbClr val="4A4A4A"/>
                  </a:solidFill>
                  <a:latin typeface="TT Fors"/>
                  <a:ea typeface="TT Fors"/>
                  <a:cs typeface="TT Fors"/>
                  <a:sym typeface="TT Fors"/>
                </a:rPr>
                <a:t>overage: 98%</a:t>
              </a:r>
            </a:p>
            <a:p>
              <a:pPr algn="l" marL="0" indent="0" lvl="0">
                <a:lnSpc>
                  <a:spcPts val="3982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3982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464322" y="2524286"/>
            <a:ext cx="10823678" cy="6734014"/>
          </a:xfrm>
          <a:custGeom>
            <a:avLst/>
            <a:gdLst/>
            <a:ahLst/>
            <a:cxnLst/>
            <a:rect r="r" b="b" t="t" l="l"/>
            <a:pathLst>
              <a:path h="6734014" w="10823678">
                <a:moveTo>
                  <a:pt x="0" y="0"/>
                </a:moveTo>
                <a:lnTo>
                  <a:pt x="10823678" y="0"/>
                </a:lnTo>
                <a:lnTo>
                  <a:pt x="10823678" y="6734014"/>
                </a:lnTo>
                <a:lnTo>
                  <a:pt x="0" y="67340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01" t="-10412" r="-3501" b="-6754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05726" y="3935413"/>
            <a:ext cx="12076548" cy="2416174"/>
            <a:chOff x="0" y="0"/>
            <a:chExt cx="16102064" cy="322156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184275"/>
              <a:ext cx="16102064" cy="20372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99"/>
                </a:lnSpc>
              </a:pPr>
              <a:r>
                <a:rPr lang="en-US" sz="9999" spc="-299">
                  <a:solidFill>
                    <a:srgbClr val="000000"/>
                  </a:solidFill>
                  <a:latin typeface="ITC Avant Garde Gothic"/>
                  <a:ea typeface="ITC Avant Garde Gothic"/>
                  <a:cs typeface="ITC Avant Garde Gothic"/>
                  <a:sym typeface="ITC Avant Garde Gothic"/>
                </a:rPr>
                <a:t>Moving to the demo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104775"/>
              <a:ext cx="16102064" cy="6263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7685087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0" y="2601913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Final Project Presentation</dc:description>
  <dc:identifier>DAG6F5N0ytY</dc:identifier>
  <dcterms:modified xsi:type="dcterms:W3CDTF">2011-08-01T06:04:30Z</dcterms:modified>
  <cp:revision>1</cp:revision>
  <dc:title>Presentation - Final Project Presentation</dc:title>
</cp:coreProperties>
</file>