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7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TC Avant Garde Gothic" panose="020B0502020202020204" pitchFamily="34" charset="77"/>
      <p:regular r:id="rId13"/>
    </p:embeddedFont>
    <p:embeddedFont>
      <p:font typeface="TT Fors" panose="020B0003030001020000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96" autoAdjust="0"/>
    <p:restoredTop sz="94532" autoAdjust="0"/>
  </p:normalViewPr>
  <p:slideViewPr>
    <p:cSldViewPr>
      <p:cViewPr varScale="1">
        <p:scale>
          <a:sx n="100" d="100"/>
          <a:sy n="100" d="100"/>
        </p:scale>
        <p:origin x="160" y="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4949824"/>
            <a:chOff x="0" y="0"/>
            <a:chExt cx="13017500" cy="6599766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5415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Used Car Price Prediction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4A4A4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AUBG 2025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3474" y="9181465"/>
            <a:ext cx="719465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Aleksandar Ivaylov Ivanov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8225040"/>
            <a:chOff x="0" y="0"/>
            <a:chExt cx="14935200" cy="1096672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235200"/>
              <a:ext cx="13498957" cy="8731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2"/>
                </a:lnSpc>
              </a:pPr>
              <a:endParaRPr/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The used-car market is unpredictable</a:t>
              </a:r>
            </a:p>
            <a:p>
              <a:pPr algn="l">
                <a:lnSpc>
                  <a:spcPts val="3982"/>
                </a:lnSpc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Prices depend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 many factors (mileage, age, fuel type)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Buyers cannot estimate depreciation accurately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Sellers have difficulty pricing fairly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No widely accessible interactive tool exists</a:t>
              </a: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66750" y="666750"/>
            <a:ext cx="11201400" cy="10119750"/>
            <a:chOff x="0" y="0"/>
            <a:chExt cx="14935200" cy="134930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49352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How does the project solve the problem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746513"/>
              <a:ext cx="13498957" cy="10746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2"/>
                </a:lnSpc>
              </a:pPr>
              <a:endParaRPr/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Uses real historical data to learn pricing patterns</a:t>
              </a:r>
            </a:p>
            <a:p>
              <a:pPr algn="l">
                <a:lnSpc>
                  <a:spcPts val="3982"/>
                </a:lnSpc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Predicts fair market prices fo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any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car con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igur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at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ult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i-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ye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dep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cia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ion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Allows sid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-by-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ide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c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omp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riso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wo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ensemb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ML model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for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igh pr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edict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ive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p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forma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ce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Has user friendly web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inter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ace</a:t>
              </a: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9232523"/>
            <a:chOff x="0" y="0"/>
            <a:chExt cx="14935200" cy="12310031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235200"/>
              <a:ext cx="13498957" cy="10074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2"/>
                </a:lnSpc>
              </a:pPr>
              <a:endParaRPr/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ASP.NET Core backend</a:t>
              </a:r>
            </a:p>
            <a:p>
              <a:pPr algn="l">
                <a:lnSpc>
                  <a:spcPts val="3982"/>
                </a:lnSpc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React + TypeScript frontend</a:t>
              </a:r>
            </a:p>
            <a:p>
              <a:pPr algn="l">
                <a:lnSpc>
                  <a:spcPts val="3982"/>
                </a:lnSpc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CLI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for m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odel bu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il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din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Custom ML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orithms 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bun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to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JSON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4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ty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es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 pr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ic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(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si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,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mpar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is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on, range(single, comparison))</a:t>
              </a: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461053" y="849849"/>
            <a:ext cx="7309940" cy="8587302"/>
          </a:xfrm>
          <a:custGeom>
            <a:avLst/>
            <a:gdLst/>
            <a:ahLst/>
            <a:cxnLst/>
            <a:rect l="l" t="t" r="r" b="b"/>
            <a:pathLst>
              <a:path w="7309940" h="8587302">
                <a:moveTo>
                  <a:pt x="0" y="0"/>
                </a:moveTo>
                <a:lnTo>
                  <a:pt x="7309940" y="0"/>
                </a:lnTo>
                <a:lnTo>
                  <a:pt x="7309940" y="8587302"/>
                </a:lnTo>
                <a:lnTo>
                  <a:pt x="0" y="8587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2006278" cy="10065089"/>
            <a:chOff x="0" y="0"/>
            <a:chExt cx="16008371" cy="13420119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3126607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Training Pipeline &amp; Quality Gates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45288"/>
              <a:ext cx="16008371" cy="10074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2"/>
                </a:lnSpc>
              </a:pPr>
              <a:endParaRPr dirty="0"/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Processes raw vehicle data (cleaning, encoding, feature scaling)</a:t>
              </a:r>
            </a:p>
            <a:p>
              <a:pPr algn="l">
                <a:lnSpc>
                  <a:spcPts val="3982"/>
                </a:lnSpc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Trains all algorithms on each (make, model) pair</a:t>
              </a:r>
            </a:p>
            <a:p>
              <a:pPr algn="l">
                <a:lnSpc>
                  <a:spcPts val="3982"/>
                </a:lnSpc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Tunes hyperparameters using cross-validation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Applies strict quality gates (R², MAE, RMSE thresholds)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Skips models with insufficient data or missing categories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Saves only high-qualit</a:t>
              </a:r>
              <a:r>
                <a:rPr lang="en-US" sz="3318" u="none" strike="noStrike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y m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odels as bundles</a:t>
              </a: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2673028" y="341938"/>
            <a:ext cx="3997300" cy="9603123"/>
          </a:xfrm>
          <a:custGeom>
            <a:avLst/>
            <a:gdLst/>
            <a:ahLst/>
            <a:cxnLst/>
            <a:rect l="l" t="t" r="r" b="b"/>
            <a:pathLst>
              <a:path w="3997300" h="9603123">
                <a:moveTo>
                  <a:pt x="0" y="0"/>
                </a:moveTo>
                <a:lnTo>
                  <a:pt x="3997300" y="0"/>
                </a:lnTo>
                <a:lnTo>
                  <a:pt x="3997300" y="9603124"/>
                </a:lnTo>
                <a:lnTo>
                  <a:pt x="0" y="960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59606"/>
            <a:ext cx="11201400" cy="7600757"/>
            <a:chOff x="0" y="-9525"/>
            <a:chExt cx="14935200" cy="1013434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436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dirty="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Overview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970055"/>
              <a:ext cx="13498957" cy="6154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2"/>
                </a:lnSpc>
              </a:pPr>
              <a:endParaRPr dirty="0"/>
            </a:p>
            <a:p>
              <a:pPr algn="l">
                <a:lnSpc>
                  <a:spcPts val="3982"/>
                </a:lnSpc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ASP.NET Core API (</a:t>
              </a:r>
              <a:r>
                <a:rPr lang="en-US" sz="3318" spc="-99" dirty="0" err="1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PredictionCon</a:t>
              </a:r>
              <a:r>
                <a:rPr lang="en-US" sz="3318" u="none" strike="noStrike" spc="-99" dirty="0" err="1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 dirty="0" err="1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roller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, </a:t>
              </a:r>
              <a:r>
                <a:rPr lang="en-US" sz="3318" spc="-99" dirty="0" err="1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ModelHotLoader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, </a:t>
              </a:r>
              <a:r>
                <a:rPr lang="en-US" sz="3318" spc="-99" dirty="0" err="1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Acti</a:t>
              </a:r>
              <a:r>
                <a:rPr lang="en-US" sz="3318" u="none" strike="noStrike" spc="-99" dirty="0" err="1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3318" spc="-99" dirty="0" err="1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eModel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React SPA U</a:t>
              </a:r>
              <a:r>
                <a:rPr lang="en-US" sz="3318" u="none" strike="noStrike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u="none" strike="noStrike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(Si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u="none" strike="noStrike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 prediction, </a:t>
              </a:r>
              <a:r>
                <a:rPr lang="en-US" sz="3318" u="none" strike="noStrike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3318" u="none" strike="noStrike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3318" u="none" strike="noStrike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u="none" strike="noStrike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dict</a:t>
              </a:r>
              <a:r>
                <a:rPr lang="en-US" sz="3318" spc="-99" dirty="0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ion, Compare)</a:t>
              </a: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2829128" y="5180621"/>
            <a:ext cx="20585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4868578" y="3348816"/>
            <a:ext cx="0" cy="1831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4874532" y="3366912"/>
            <a:ext cx="167863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5080484" y="3434742"/>
            <a:ext cx="3123182" cy="6356958"/>
          </a:xfrm>
          <a:custGeom>
            <a:avLst/>
            <a:gdLst/>
            <a:ahLst/>
            <a:cxnLst/>
            <a:rect l="l" t="t" r="r" b="b"/>
            <a:pathLst>
              <a:path w="3123182" h="6356958">
                <a:moveTo>
                  <a:pt x="0" y="0"/>
                </a:moveTo>
                <a:lnTo>
                  <a:pt x="3123182" y="0"/>
                </a:lnTo>
                <a:lnTo>
                  <a:pt x="312318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0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111825" y="183778"/>
            <a:ext cx="3434608" cy="4959722"/>
          </a:xfrm>
          <a:custGeom>
            <a:avLst/>
            <a:gdLst/>
            <a:ahLst/>
            <a:cxnLst/>
            <a:rect l="l" t="t" r="r" b="b"/>
            <a:pathLst>
              <a:path w="3434608" h="4959722">
                <a:moveTo>
                  <a:pt x="0" y="0"/>
                </a:moveTo>
                <a:lnTo>
                  <a:pt x="3434607" y="0"/>
                </a:lnTo>
                <a:lnTo>
                  <a:pt x="3434607" y="4959722"/>
                </a:lnTo>
                <a:lnTo>
                  <a:pt x="0" y="495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16534457" y="3366912"/>
            <a:ext cx="0" cy="1690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 flipV="1">
            <a:off x="12829128" y="5143500"/>
            <a:ext cx="0" cy="561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B164C0-0E55-4E61-29BD-B2704FA2C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198215"/>
            <a:ext cx="13345580" cy="867673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666750" y="659606"/>
            <a:ext cx="14281555" cy="2305524"/>
            <a:chOff x="0" y="-9525"/>
            <a:chExt cx="19042074" cy="3074032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1" cy="1436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dirty="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Class Hierarchy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81328"/>
              <a:ext cx="19042074" cy="6831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 dirty="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443D6-B368-9D2F-A2F9-05D334A8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6ECB353-50CD-AD6C-6B73-85D47C7F9C6C}"/>
              </a:ext>
            </a:extLst>
          </p:cNvPr>
          <p:cNvGrpSpPr/>
          <p:nvPr/>
        </p:nvGrpSpPr>
        <p:grpSpPr>
          <a:xfrm>
            <a:off x="666750" y="666750"/>
            <a:ext cx="14281555" cy="9342119"/>
            <a:chOff x="0" y="0"/>
            <a:chExt cx="19042074" cy="12456159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7A086211-5FDF-BDE5-E0B1-73BEC782DD11}"/>
                </a:ext>
              </a:extLst>
            </p:cNvPr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Algorithms used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434974B-0700-7042-3F14-75A21D7C0F2E}"/>
                </a:ext>
              </a:extLst>
            </p:cNvPr>
            <p:cNvSpPr txBox="1"/>
            <p:nvPr/>
          </p:nvSpPr>
          <p:spPr>
            <a:xfrm>
              <a:off x="0" y="2381328"/>
              <a:ext cx="19042074" cy="10074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2"/>
                </a:lnSpc>
              </a:pPr>
              <a:endParaRPr/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Linear Regression – provides the simplest baseline for price estimation. Complexity: O(E · n · m) </a:t>
              </a:r>
            </a:p>
            <a:p>
              <a:pPr algn="l">
                <a:lnSpc>
                  <a:spcPts val="3982"/>
                </a:lnSpc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Ridge Regression – adds stability and prevents overfitting in trend modeling. Complexity: O(m² · n) </a:t>
              </a:r>
            </a:p>
            <a:p>
              <a:pPr algn="l">
                <a:lnSpc>
                  <a:spcPts val="3982"/>
                </a:lnSpc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Random Forest – captures nonlinear patterns that linear models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miss. Complexity: O(t · k · m · log k) 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u="none" strike="noStrike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Gradient Boosting – delivers highest accuracy by learning from residual errors. Complexity: O(t · k · m · log k) 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C4EEA9A-5C55-BDE7-5035-80492EFC70AC}"/>
              </a:ext>
            </a:extLst>
          </p:cNvPr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734C094-16E7-F508-6D5D-5A0F8BEF3B81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60B219-314E-3513-1DAA-F5D62893EBFC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FA678EA-55A3-72FA-D3CC-273E94826301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48372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7950150"/>
            <a:chOff x="0" y="0"/>
            <a:chExt cx="14935200" cy="10600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Challenges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11990"/>
              <a:ext cx="13498957" cy="7388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2"/>
                </a:lnSpc>
              </a:pPr>
              <a:endParaRPr/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RF/GB models were unstable for long-term forecasts → required using Ridge for range predictions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Raw data had inconsistent model names → needed a custom canonical I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system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Ensuring safe model hot-loading </a:t>
              </a: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204" y="1036475"/>
            <a:ext cx="8643378" cy="8214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095761" cy="9767648"/>
            <a:chOff x="0" y="0"/>
            <a:chExt cx="14794348" cy="13023531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794348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Results &amp; Findings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277044"/>
              <a:ext cx="9137674" cy="10746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2"/>
                </a:lnSpc>
              </a:pPr>
              <a:endParaRPr/>
            </a:p>
            <a:p>
              <a:pPr marL="716431" lvl="1" indent="-358216" algn="l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High model accuracy across most car models (strong MAE/RMSE and R² scores)</a:t>
              </a:r>
            </a:p>
            <a:p>
              <a:pPr algn="l">
                <a:lnSpc>
                  <a:spcPts val="3982"/>
                </a:lnSpc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RF/GB + Ridge Regression models performed best overall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Strict quality gates prevented weak models from being saved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Backend test coverage: 84%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716431" lvl="1" indent="-358216" algn="l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Fr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end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tes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u="none" strike="noStrike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c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overage: 98%</a:t>
              </a: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3982"/>
                </a:lnSpc>
                <a:spcBef>
                  <a:spcPct val="0"/>
                </a:spcBef>
              </a:pPr>
              <a:endParaRPr lang="en-US" sz="3318" spc="-99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464322" y="2524286"/>
            <a:ext cx="10823678" cy="6734014"/>
          </a:xfrm>
          <a:custGeom>
            <a:avLst/>
            <a:gdLst/>
            <a:ahLst/>
            <a:cxnLst/>
            <a:rect l="l" t="t" r="r" b="b"/>
            <a:pathLst>
              <a:path w="10823678" h="6734014">
                <a:moveTo>
                  <a:pt x="0" y="0"/>
                </a:moveTo>
                <a:lnTo>
                  <a:pt x="10823678" y="0"/>
                </a:lnTo>
                <a:lnTo>
                  <a:pt x="10823678" y="6734014"/>
                </a:lnTo>
                <a:lnTo>
                  <a:pt x="0" y="6734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01" t="-10412" r="-3501" b="-6754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05726" y="3935413"/>
            <a:ext cx="12076548" cy="2416174"/>
            <a:chOff x="0" y="0"/>
            <a:chExt cx="16102064" cy="3221566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4275"/>
              <a:ext cx="16102064" cy="2037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Moving to the demo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16102064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7685087"/>
            <a:ext cx="18288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2601913"/>
            <a:ext cx="18288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398</Words>
  <Application>Microsoft Macintosh PowerPoint</Application>
  <PresentationFormat>Custom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TT Fors</vt:lpstr>
      <vt:lpstr>Calibri</vt:lpstr>
      <vt:lpstr>ITC Avant Garde 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Final Project Presentation</dc:title>
  <dc:description>Presentation - Final Project Presentation</dc:description>
  <cp:lastModifiedBy>Aleks4o</cp:lastModifiedBy>
  <cp:revision>4</cp:revision>
  <dcterms:created xsi:type="dcterms:W3CDTF">2006-08-16T00:00:00Z</dcterms:created>
  <dcterms:modified xsi:type="dcterms:W3CDTF">2025-12-09T12:48:53Z</dcterms:modified>
  <dc:identifier>DAG6F5N0ytY</dc:identifier>
</cp:coreProperties>
</file>